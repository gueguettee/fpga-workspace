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Libre Franklin"/>
      <p:regular r:id="rId18"/>
      <p:bold r:id="rId19"/>
      <p:italic r:id="rId20"/>
      <p:boldItalic r:id="rId21"/>
    </p:embeddedFont>
    <p:embeddedFont>
      <p:font typeface="Franklin Gothic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jNfheOKR26VJW0TElhWD4u7akQ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italic.fntdata"/><Relationship Id="rId22" Type="http://schemas.openxmlformats.org/officeDocument/2006/relationships/font" Target="fonts/FranklinGothic-bold.fntdata"/><Relationship Id="rId21" Type="http://schemas.openxmlformats.org/officeDocument/2006/relationships/font" Target="fonts/LibreFranklin-boldItalic.fntdata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ibreFranklin-bold.fntdata"/><Relationship Id="rId18" Type="http://schemas.openxmlformats.org/officeDocument/2006/relationships/font" Target="fonts/LibreFrankli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b="0" i="0" sz="12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542925" y="754063"/>
            <a:ext cx="6723063" cy="3781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1039707" y="4788932"/>
            <a:ext cx="5723467" cy="4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bba934740_0_1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5bba934740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5bba934740_0_18:notes"/>
          <p:cNvSpPr/>
          <p:nvPr>
            <p:ph idx="2" type="sldImg"/>
          </p:nvPr>
        </p:nvSpPr>
        <p:spPr>
          <a:xfrm>
            <a:off x="542925" y="754063"/>
            <a:ext cx="6723000" cy="37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9" name="Google Shape;159;g35bba934740_0_18:notes"/>
          <p:cNvSpPr txBox="1"/>
          <p:nvPr>
            <p:ph idx="1" type="body"/>
          </p:nvPr>
        </p:nvSpPr>
        <p:spPr>
          <a:xfrm>
            <a:off x="1039707" y="4788932"/>
            <a:ext cx="5723400" cy="4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bba934740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bba934740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5bba934740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b="0" i="0" sz="12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:notes"/>
          <p:cNvSpPr/>
          <p:nvPr>
            <p:ph idx="2" type="sldImg"/>
          </p:nvPr>
        </p:nvSpPr>
        <p:spPr>
          <a:xfrm>
            <a:off x="542925" y="754063"/>
            <a:ext cx="6723063" cy="3781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p2:notes"/>
          <p:cNvSpPr txBox="1"/>
          <p:nvPr>
            <p:ph idx="1" type="body"/>
          </p:nvPr>
        </p:nvSpPr>
        <p:spPr>
          <a:xfrm>
            <a:off x="1039707" y="4788932"/>
            <a:ext cx="5723467" cy="4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:notes"/>
          <p:cNvSpPr/>
          <p:nvPr>
            <p:ph idx="2" type="sldImg"/>
          </p:nvPr>
        </p:nvSpPr>
        <p:spPr>
          <a:xfrm>
            <a:off x="542925" y="754063"/>
            <a:ext cx="6723063" cy="3781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1039707" y="4788932"/>
            <a:ext cx="5723467" cy="4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bba934740_0_6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b="0" i="0" sz="12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5bba934740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5bba934740_0_63:notes"/>
          <p:cNvSpPr/>
          <p:nvPr>
            <p:ph idx="2" type="sldImg"/>
          </p:nvPr>
        </p:nvSpPr>
        <p:spPr>
          <a:xfrm>
            <a:off x="542925" y="754063"/>
            <a:ext cx="6723000" cy="37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6" name="Google Shape;196;g35bba934740_0_63:notes"/>
          <p:cNvSpPr txBox="1"/>
          <p:nvPr>
            <p:ph idx="1" type="body"/>
          </p:nvPr>
        </p:nvSpPr>
        <p:spPr>
          <a:xfrm>
            <a:off x="1039707" y="4788932"/>
            <a:ext cx="5723400" cy="4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bba934740_0_9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5bba934740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5bba934740_0_9:notes"/>
          <p:cNvSpPr/>
          <p:nvPr>
            <p:ph idx="2" type="sldImg"/>
          </p:nvPr>
        </p:nvSpPr>
        <p:spPr>
          <a:xfrm>
            <a:off x="542925" y="754063"/>
            <a:ext cx="6723000" cy="37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6" name="Google Shape;206;g35bba934740_0_9:notes"/>
          <p:cNvSpPr txBox="1"/>
          <p:nvPr>
            <p:ph idx="1" type="body"/>
          </p:nvPr>
        </p:nvSpPr>
        <p:spPr>
          <a:xfrm>
            <a:off x="1039707" y="4788932"/>
            <a:ext cx="5723400" cy="4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bba934740_0_2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5bba934740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5bba934740_0_26:notes"/>
          <p:cNvSpPr/>
          <p:nvPr>
            <p:ph idx="2" type="sldImg"/>
          </p:nvPr>
        </p:nvSpPr>
        <p:spPr>
          <a:xfrm>
            <a:off x="542925" y="754063"/>
            <a:ext cx="6723000" cy="37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6" name="Google Shape;216;g35bba934740_0_26:notes"/>
          <p:cNvSpPr txBox="1"/>
          <p:nvPr>
            <p:ph idx="1" type="body"/>
          </p:nvPr>
        </p:nvSpPr>
        <p:spPr>
          <a:xfrm>
            <a:off x="1039707" y="4788932"/>
            <a:ext cx="5723400" cy="4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bba934740_0_48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5bba934740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5bba934740_0_48:notes"/>
          <p:cNvSpPr/>
          <p:nvPr>
            <p:ph idx="2" type="sldImg"/>
          </p:nvPr>
        </p:nvSpPr>
        <p:spPr>
          <a:xfrm>
            <a:off x="542925" y="754063"/>
            <a:ext cx="6723000" cy="37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6" name="Google Shape;226;g35bba934740_0_48:notes"/>
          <p:cNvSpPr txBox="1"/>
          <p:nvPr>
            <p:ph idx="1" type="body"/>
          </p:nvPr>
        </p:nvSpPr>
        <p:spPr>
          <a:xfrm>
            <a:off x="1039707" y="4788932"/>
            <a:ext cx="5723400" cy="4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:notes"/>
          <p:cNvSpPr/>
          <p:nvPr>
            <p:ph idx="2" type="sldImg"/>
          </p:nvPr>
        </p:nvSpPr>
        <p:spPr>
          <a:xfrm>
            <a:off x="542925" y="754063"/>
            <a:ext cx="6723063" cy="3781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5" name="Google Shape;235;p4:notes"/>
          <p:cNvSpPr txBox="1"/>
          <p:nvPr>
            <p:ph idx="1" type="body"/>
          </p:nvPr>
        </p:nvSpPr>
        <p:spPr>
          <a:xfrm>
            <a:off x="1039707" y="4788932"/>
            <a:ext cx="5723467" cy="4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5bba934740_0_35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5bba934740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5bba934740_0_35:notes"/>
          <p:cNvSpPr/>
          <p:nvPr>
            <p:ph idx="2" type="sldImg"/>
          </p:nvPr>
        </p:nvSpPr>
        <p:spPr>
          <a:xfrm>
            <a:off x="542925" y="754063"/>
            <a:ext cx="6723000" cy="37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5" name="Google Shape;245;g35bba934740_0_35:notes"/>
          <p:cNvSpPr txBox="1"/>
          <p:nvPr>
            <p:ph idx="1" type="body"/>
          </p:nvPr>
        </p:nvSpPr>
        <p:spPr>
          <a:xfrm>
            <a:off x="1039707" y="4788932"/>
            <a:ext cx="5723400" cy="45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19/05/2025</a:t>
            </a:r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4454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:notes"/>
          <p:cNvSpPr/>
          <p:nvPr>
            <p:ph idx="2" type="sldImg"/>
          </p:nvPr>
        </p:nvSpPr>
        <p:spPr>
          <a:xfrm>
            <a:off x="542925" y="754063"/>
            <a:ext cx="6723063" cy="3781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5" name="Google Shape;255;p5:notes"/>
          <p:cNvSpPr txBox="1"/>
          <p:nvPr>
            <p:ph idx="1" type="body"/>
          </p:nvPr>
        </p:nvSpPr>
        <p:spPr>
          <a:xfrm>
            <a:off x="1039707" y="4788932"/>
            <a:ext cx="5723467" cy="45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992191" y="317245"/>
            <a:ext cx="10635847" cy="66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re de section" showMasterSp="0">
  <p:cSld name="8_Titre de section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/>
          <p:nvPr/>
        </p:nvSpPr>
        <p:spPr>
          <a:xfrm>
            <a:off x="684108" y="2215007"/>
            <a:ext cx="11507893" cy="22725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8"/>
          <p:cNvSpPr txBox="1"/>
          <p:nvPr>
            <p:ph type="title"/>
          </p:nvPr>
        </p:nvSpPr>
        <p:spPr>
          <a:xfrm>
            <a:off x="863600" y="2761130"/>
            <a:ext cx="10644292" cy="1398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Libre Franklin"/>
              <a:buNone/>
              <a:defRPr b="0" sz="4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684108" y="4759382"/>
            <a:ext cx="10823785" cy="1757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pic>
        <p:nvPicPr>
          <p:cNvPr id="22" name="Google Shape;2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87660" y="1227387"/>
            <a:ext cx="3764976" cy="133241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8"/>
          <p:cNvSpPr/>
          <p:nvPr/>
        </p:nvSpPr>
        <p:spPr>
          <a:xfrm>
            <a:off x="0" y="355600"/>
            <a:ext cx="863600" cy="95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4" name="Google Shape;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092" y="-84021"/>
            <a:ext cx="1567068" cy="678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idx="1" type="body"/>
          </p:nvPr>
        </p:nvSpPr>
        <p:spPr>
          <a:xfrm>
            <a:off x="992192" y="1317071"/>
            <a:ext cx="10635848" cy="5288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33147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indent="-331469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type="title"/>
          </p:nvPr>
        </p:nvSpPr>
        <p:spPr>
          <a:xfrm>
            <a:off x="992191" y="317245"/>
            <a:ext cx="10635847" cy="66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>
  <p:cSld name="V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re de section">
  <p:cSld name="7_Titre de sec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/>
          <p:nvPr/>
        </p:nvSpPr>
        <p:spPr>
          <a:xfrm>
            <a:off x="873038" y="0"/>
            <a:ext cx="10755001" cy="657860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1"/>
          <p:cNvSpPr txBox="1"/>
          <p:nvPr>
            <p:ph type="title"/>
          </p:nvPr>
        </p:nvSpPr>
        <p:spPr>
          <a:xfrm>
            <a:off x="1643269" y="1037168"/>
            <a:ext cx="9864624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" type="body"/>
          </p:nvPr>
        </p:nvSpPr>
        <p:spPr>
          <a:xfrm>
            <a:off x="1643269" y="3429000"/>
            <a:ext cx="9864624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Vide">
  <p:cSld name="1_V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2"/>
          <p:cNvSpPr/>
          <p:nvPr>
            <p:ph idx="2" type="pic"/>
          </p:nvPr>
        </p:nvSpPr>
        <p:spPr>
          <a:xfrm>
            <a:off x="976184" y="0"/>
            <a:ext cx="1121581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2"/>
          <p:cNvSpPr txBox="1"/>
          <p:nvPr>
            <p:ph type="ctrTitle"/>
          </p:nvPr>
        </p:nvSpPr>
        <p:spPr>
          <a:xfrm>
            <a:off x="6141685" y="1048714"/>
            <a:ext cx="6050318" cy="32408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6800" lIns="216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ranklin Gothic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" type="subTitle"/>
          </p:nvPr>
        </p:nvSpPr>
        <p:spPr>
          <a:xfrm>
            <a:off x="3243504" y="4179404"/>
            <a:ext cx="3329576" cy="217379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re de section" showMasterSp="0">
  <p:cSld name="11_Titre de sec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/>
          <p:nvPr/>
        </p:nvSpPr>
        <p:spPr>
          <a:xfrm>
            <a:off x="0" y="355600"/>
            <a:ext cx="863600" cy="95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3" name="Google Shape;43;p13"/>
          <p:cNvSpPr/>
          <p:nvPr/>
        </p:nvSpPr>
        <p:spPr>
          <a:xfrm>
            <a:off x="5071165" y="0"/>
            <a:ext cx="71208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3"/>
          <p:cNvSpPr txBox="1"/>
          <p:nvPr>
            <p:ph type="title"/>
          </p:nvPr>
        </p:nvSpPr>
        <p:spPr>
          <a:xfrm>
            <a:off x="5071165" y="1037168"/>
            <a:ext cx="6436728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" type="body"/>
          </p:nvPr>
        </p:nvSpPr>
        <p:spPr>
          <a:xfrm>
            <a:off x="5071165" y="3429000"/>
            <a:ext cx="6436728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46" name="Google Shape;46;p13"/>
          <p:cNvSpPr/>
          <p:nvPr>
            <p:ph idx="2" type="pic"/>
          </p:nvPr>
        </p:nvSpPr>
        <p:spPr>
          <a:xfrm>
            <a:off x="1206501" y="0"/>
            <a:ext cx="3864665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7" name="Google Shape;4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1" y="20040"/>
            <a:ext cx="871936" cy="37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55" y="397403"/>
            <a:ext cx="572290" cy="66459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11628039" y="647232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re de section" showMasterSp="0">
  <p:cSld name="12_Titre de sec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/>
          <p:nvPr/>
        </p:nvSpPr>
        <p:spPr>
          <a:xfrm>
            <a:off x="0" y="355600"/>
            <a:ext cx="863600" cy="95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2" name="Google Shape;52;p14"/>
          <p:cNvSpPr/>
          <p:nvPr/>
        </p:nvSpPr>
        <p:spPr>
          <a:xfrm>
            <a:off x="5071165" y="0"/>
            <a:ext cx="712083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4"/>
          <p:cNvSpPr txBox="1"/>
          <p:nvPr>
            <p:ph type="title"/>
          </p:nvPr>
        </p:nvSpPr>
        <p:spPr>
          <a:xfrm>
            <a:off x="5071165" y="1037168"/>
            <a:ext cx="6436728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5071165" y="3429000"/>
            <a:ext cx="6436728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55" name="Google Shape;55;p14"/>
          <p:cNvSpPr/>
          <p:nvPr>
            <p:ph idx="2" type="pic"/>
          </p:nvPr>
        </p:nvSpPr>
        <p:spPr>
          <a:xfrm>
            <a:off x="1206501" y="0"/>
            <a:ext cx="3864665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1" y="20040"/>
            <a:ext cx="871936" cy="37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55" y="397403"/>
            <a:ext cx="572290" cy="66459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11628039" y="647232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re de section" showMasterSp="0">
  <p:cSld name="13_Titre de sec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355600"/>
            <a:ext cx="863600" cy="95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071165" y="0"/>
            <a:ext cx="712083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5071165" y="1037168"/>
            <a:ext cx="6436728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5071165" y="3429000"/>
            <a:ext cx="6436728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64" name="Google Shape;64;p15"/>
          <p:cNvSpPr/>
          <p:nvPr>
            <p:ph idx="2" type="pic"/>
          </p:nvPr>
        </p:nvSpPr>
        <p:spPr>
          <a:xfrm>
            <a:off x="1206501" y="0"/>
            <a:ext cx="3864665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65" name="Google Shape;6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1" y="20040"/>
            <a:ext cx="871936" cy="37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55" y="397403"/>
            <a:ext cx="572290" cy="66459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11628039" y="647232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re de section" showMasterSp="0">
  <p:cSld name="14_Titre de sec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355600"/>
            <a:ext cx="863600" cy="952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0" name="Google Shape;70;p16"/>
          <p:cNvSpPr txBox="1"/>
          <p:nvPr/>
        </p:nvSpPr>
        <p:spPr>
          <a:xfrm rot="-5400000">
            <a:off x="-2452036" y="3632644"/>
            <a:ext cx="5399174" cy="57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Noto Sans Symbols"/>
              <a:buNone/>
            </a:pPr>
            <a:r>
              <a:rPr lang="en-US" sz="1200">
                <a:solidFill>
                  <a:srgbClr val="C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PASC23 - Green Computing Architectures and Tools for Scientific Computing</a:t>
            </a:r>
            <a:endParaRPr sz="1200">
              <a:solidFill>
                <a:srgbClr val="C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071165" y="0"/>
            <a:ext cx="7120835" cy="6858000"/>
          </a:xfrm>
          <a:prstGeom prst="rect">
            <a:avLst/>
          </a:prstGeom>
          <a:solidFill>
            <a:srgbClr val="2523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5071165" y="1037168"/>
            <a:ext cx="6436728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5071165" y="3429000"/>
            <a:ext cx="6436728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1206501" y="0"/>
            <a:ext cx="3864665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75" name="Google Shape;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1" y="20040"/>
            <a:ext cx="871936" cy="37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55" y="397403"/>
            <a:ext cx="572290" cy="66459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11628039" y="647232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>
  <p:cSld name="Titre de sec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5071165" y="0"/>
            <a:ext cx="71208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5071165" y="1037168"/>
            <a:ext cx="6436728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5071165" y="3429000"/>
            <a:ext cx="6436728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82" name="Google Shape;82;p17"/>
          <p:cNvSpPr/>
          <p:nvPr>
            <p:ph idx="2" type="pic"/>
          </p:nvPr>
        </p:nvSpPr>
        <p:spPr>
          <a:xfrm>
            <a:off x="1206501" y="0"/>
            <a:ext cx="386466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re de section">
  <p:cSld name="6_Titre de sec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5071165" y="0"/>
            <a:ext cx="7120835" cy="6858000"/>
          </a:xfrm>
          <a:prstGeom prst="rect">
            <a:avLst/>
          </a:prstGeom>
          <a:solidFill>
            <a:srgbClr val="2523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5071165" y="1037168"/>
            <a:ext cx="6436728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5071165" y="3429000"/>
            <a:ext cx="6436728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88" name="Google Shape;88;p18"/>
          <p:cNvSpPr/>
          <p:nvPr>
            <p:ph idx="2" type="pic"/>
          </p:nvPr>
        </p:nvSpPr>
        <p:spPr>
          <a:xfrm>
            <a:off x="1206501" y="0"/>
            <a:ext cx="386466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re de section">
  <p:cSld name="2_Titre de sec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9"/>
          <p:cNvSpPr txBox="1"/>
          <p:nvPr>
            <p:ph type="title"/>
          </p:nvPr>
        </p:nvSpPr>
        <p:spPr>
          <a:xfrm>
            <a:off x="6096000" y="1037168"/>
            <a:ext cx="5411893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6096000" y="3429000"/>
            <a:ext cx="5411893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94" name="Google Shape;94;p19"/>
          <p:cNvSpPr/>
          <p:nvPr>
            <p:ph idx="2" type="pic"/>
          </p:nvPr>
        </p:nvSpPr>
        <p:spPr>
          <a:xfrm>
            <a:off x="1206501" y="0"/>
            <a:ext cx="48895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re de section">
  <p:cSld name="1_Titre de sec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0"/>
          <p:cNvSpPr txBox="1"/>
          <p:nvPr>
            <p:ph type="title"/>
          </p:nvPr>
        </p:nvSpPr>
        <p:spPr>
          <a:xfrm>
            <a:off x="6096000" y="1037168"/>
            <a:ext cx="5411893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6096000" y="3429000"/>
            <a:ext cx="5411893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100" name="Google Shape;100;p20"/>
          <p:cNvSpPr/>
          <p:nvPr>
            <p:ph idx="2" type="pic"/>
          </p:nvPr>
        </p:nvSpPr>
        <p:spPr>
          <a:xfrm>
            <a:off x="1206501" y="0"/>
            <a:ext cx="48895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re et contenu">
  <p:cSld name="1_Titre et contenu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992191" y="1299086"/>
            <a:ext cx="6323010" cy="5301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33147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indent="-331469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1"/>
          <p:cNvSpPr/>
          <p:nvPr>
            <p:ph idx="2" type="pic"/>
          </p:nvPr>
        </p:nvSpPr>
        <p:spPr>
          <a:xfrm>
            <a:off x="7315200" y="0"/>
            <a:ext cx="419311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992191" y="317245"/>
            <a:ext cx="10635847" cy="66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re et contenu">
  <p:cSld name="2_Titre et contenu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/>
          <p:nvPr>
            <p:ph idx="2" type="pic"/>
          </p:nvPr>
        </p:nvSpPr>
        <p:spPr>
          <a:xfrm>
            <a:off x="1206500" y="0"/>
            <a:ext cx="419311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5399194" y="2084917"/>
            <a:ext cx="6108700" cy="4515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33147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indent="-331469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2"/>
          <p:cNvSpPr txBox="1"/>
          <p:nvPr>
            <p:ph type="title"/>
          </p:nvPr>
        </p:nvSpPr>
        <p:spPr>
          <a:xfrm>
            <a:off x="1206502" y="174710"/>
            <a:ext cx="4192693" cy="143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re et contenu">
  <p:cSld name="4_Titre et contenu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/>
          <p:nvPr>
            <p:ph idx="2" type="pic"/>
          </p:nvPr>
        </p:nvSpPr>
        <p:spPr>
          <a:xfrm>
            <a:off x="1206500" y="0"/>
            <a:ext cx="419311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5399194" y="1952368"/>
            <a:ext cx="6108700" cy="46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33147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indent="-331469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3"/>
          <p:cNvSpPr txBox="1"/>
          <p:nvPr>
            <p:ph type="title"/>
          </p:nvPr>
        </p:nvSpPr>
        <p:spPr>
          <a:xfrm>
            <a:off x="5399193" y="174710"/>
            <a:ext cx="4192693" cy="143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re et contenu">
  <p:cSld name="3_Titre et contenu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/>
          <p:nvPr>
            <p:ph idx="2" type="pic"/>
          </p:nvPr>
        </p:nvSpPr>
        <p:spPr>
          <a:xfrm>
            <a:off x="992192" y="1594023"/>
            <a:ext cx="4407426" cy="5263978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5399194" y="1594023"/>
            <a:ext cx="6108700" cy="5006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33147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indent="-331469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type="title"/>
          </p:nvPr>
        </p:nvSpPr>
        <p:spPr>
          <a:xfrm>
            <a:off x="992191" y="317245"/>
            <a:ext cx="10635847" cy="66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>
  <p:cSld name="Deux contenu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992191" y="1767017"/>
            <a:ext cx="4895288" cy="46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33147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indent="-331469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2" type="body"/>
          </p:nvPr>
        </p:nvSpPr>
        <p:spPr>
          <a:xfrm>
            <a:off x="6613029" y="1767016"/>
            <a:ext cx="4895288" cy="4669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33147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62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indent="-331469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type="title"/>
          </p:nvPr>
        </p:nvSpPr>
        <p:spPr>
          <a:xfrm>
            <a:off x="992191" y="317245"/>
            <a:ext cx="10635847" cy="66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re seul">
  <p:cSld name="1_Titre seul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/>
          <p:nvPr>
            <p:ph idx="2" type="pic"/>
          </p:nvPr>
        </p:nvSpPr>
        <p:spPr>
          <a:xfrm>
            <a:off x="1206501" y="0"/>
            <a:ext cx="109855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6"/>
          <p:cNvSpPr txBox="1"/>
          <p:nvPr>
            <p:ph type="title"/>
          </p:nvPr>
        </p:nvSpPr>
        <p:spPr>
          <a:xfrm>
            <a:off x="4752976" y="3429001"/>
            <a:ext cx="7439026" cy="28151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re seul">
  <p:cSld name="2_Titre seul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/>
          <p:nvPr>
            <p:ph idx="2" type="pic"/>
          </p:nvPr>
        </p:nvSpPr>
        <p:spPr>
          <a:xfrm>
            <a:off x="1206501" y="0"/>
            <a:ext cx="1030181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re de section">
  <p:cSld name="9_Titre de section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/>
        </p:nvSpPr>
        <p:spPr>
          <a:xfrm>
            <a:off x="5071165" y="0"/>
            <a:ext cx="71208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8"/>
          <p:cNvSpPr txBox="1"/>
          <p:nvPr>
            <p:ph type="title"/>
          </p:nvPr>
        </p:nvSpPr>
        <p:spPr>
          <a:xfrm>
            <a:off x="5071165" y="1037168"/>
            <a:ext cx="6436728" cy="2391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180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67"/>
              <a:buFont typeface="Franklin Gothic"/>
              <a:buNone/>
              <a:defRPr sz="42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" type="body"/>
          </p:nvPr>
        </p:nvSpPr>
        <p:spPr>
          <a:xfrm>
            <a:off x="5071165" y="3429000"/>
            <a:ext cx="6436728" cy="2875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94929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94929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94929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49291"/>
              </a:buClr>
              <a:buSzPts val="1600"/>
              <a:buNone/>
              <a:defRPr sz="1600">
                <a:solidFill>
                  <a:srgbClr val="949291"/>
                </a:solidFill>
              </a:defRPr>
            </a:lvl9pPr>
          </a:lstStyle>
          <a:p/>
        </p:txBody>
      </p:sp>
      <p:sp>
        <p:nvSpPr>
          <p:cNvPr id="138" name="Google Shape;138;p28"/>
          <p:cNvSpPr/>
          <p:nvPr>
            <p:ph idx="2" type="pic"/>
          </p:nvPr>
        </p:nvSpPr>
        <p:spPr>
          <a:xfrm>
            <a:off x="1206501" y="0"/>
            <a:ext cx="386466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8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algn="ctr">
              <a:spcBef>
                <a:spcPts val="0"/>
              </a:spcBef>
              <a:buNone/>
              <a:defRPr b="0" sz="16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>
  <p:cSld name="Diapositive de titre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/>
          <p:nvPr>
            <p:ph idx="2" type="pic"/>
          </p:nvPr>
        </p:nvSpPr>
        <p:spPr>
          <a:xfrm>
            <a:off x="1775885" y="0"/>
            <a:ext cx="10416116" cy="6597651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9"/>
          <p:cNvSpPr txBox="1"/>
          <p:nvPr>
            <p:ph type="ctrTitle"/>
          </p:nvPr>
        </p:nvSpPr>
        <p:spPr>
          <a:xfrm>
            <a:off x="6573079" y="1048714"/>
            <a:ext cx="5618923" cy="31178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6800" lIns="216000" spcFirstLastPara="1" rIns="7200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Franklin Gothic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1" type="subTitle"/>
          </p:nvPr>
        </p:nvSpPr>
        <p:spPr>
          <a:xfrm>
            <a:off x="3480906" y="4179404"/>
            <a:ext cx="3092173" cy="209126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000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44" name="Google Shape;14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14092" y="-84021"/>
            <a:ext cx="1567068" cy="67820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9"/>
          <p:cNvSpPr txBox="1"/>
          <p:nvPr>
            <p:ph idx="3" type="body"/>
          </p:nvPr>
        </p:nvSpPr>
        <p:spPr>
          <a:xfrm>
            <a:off x="8534400" y="4179404"/>
            <a:ext cx="2438400" cy="24182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320"/>
              <a:buNone/>
              <a:defRPr sz="1467"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2pPr>
            <a:lvl3pPr indent="-331469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168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4156">
          <p15:clr>
            <a:srgbClr val="FBAE40"/>
          </p15:clr>
        </p15:guide>
        <p15:guide id="6" pos="111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3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992191" y="317245"/>
            <a:ext cx="10635847" cy="66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Franklin Gothic"/>
              <a:buNone/>
              <a:defRPr b="0" i="0" sz="4267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992192" y="1317071"/>
            <a:ext cx="10635848" cy="5288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0" spcFirstLastPara="1" rIns="91425" wrap="square" tIns="45700">
            <a:normAutofit/>
          </a:bodyPr>
          <a:lstStyle>
            <a:lvl1pPr indent="-41148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6"/>
              </a:buClr>
              <a:buSzPts val="2880"/>
              <a:buFont typeface="Noto Sans Symbols"/>
              <a:buChar char="▪"/>
              <a:defRPr b="0" i="0" sz="32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77189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34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11628039" y="6453275"/>
            <a:ext cx="563962" cy="2523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01" y="20040"/>
            <a:ext cx="871936" cy="37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0255" y="397403"/>
            <a:ext cx="572290" cy="66459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168">
          <p15:clr>
            <a:srgbClr val="F26B43"/>
          </p15:clr>
        </p15:guide>
        <p15:guide id="3" pos="7469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164">
          <p15:clr>
            <a:srgbClr val="F26B43"/>
          </p15:clr>
        </p15:guide>
        <p15:guide id="6" orient="horz" pos="4156">
          <p15:clr>
            <a:srgbClr val="F26B43"/>
          </p15:clr>
        </p15:guide>
        <p15:guide id="7" pos="760">
          <p15:clr>
            <a:srgbClr val="F26B43"/>
          </p15:clr>
        </p15:guide>
        <p15:guide id="8" pos="1540">
          <p15:clr>
            <a:srgbClr val="F26B43"/>
          </p15:clr>
        </p15:guide>
        <p15:guide id="9" pos="2304">
          <p15:clr>
            <a:srgbClr val="F26B43"/>
          </p15:clr>
        </p15:guide>
        <p15:guide id="10" pos="3072">
          <p15:clr>
            <a:srgbClr val="F26B43"/>
          </p15:clr>
        </p15:guide>
        <p15:guide id="11" pos="4608">
          <p15:clr>
            <a:srgbClr val="F26B43"/>
          </p15:clr>
        </p15:guide>
        <p15:guide id="12" pos="5380">
          <p15:clr>
            <a:srgbClr val="F26B43"/>
          </p15:clr>
        </p15:guide>
        <p15:guide id="13" pos="6144">
          <p15:clr>
            <a:srgbClr val="F26B43"/>
          </p15:clr>
        </p15:guide>
        <p15:guide id="14" pos="6907">
          <p15:clr>
            <a:srgbClr val="F26B43"/>
          </p15:clr>
        </p15:guide>
        <p15:guide id="15" orient="horz" pos="653">
          <p15:clr>
            <a:srgbClr val="F26B43"/>
          </p15:clr>
        </p15:guide>
        <p15:guide id="16" orient="horz" pos="1313">
          <p15:clr>
            <a:srgbClr val="F26B43"/>
          </p15:clr>
        </p15:guide>
        <p15:guide id="17" orient="horz" pos="1967">
          <p15:clr>
            <a:srgbClr val="F26B43"/>
          </p15:clr>
        </p15:guide>
        <p15:guide id="18" orient="horz" pos="2616">
          <p15:clr>
            <a:srgbClr val="F26B43"/>
          </p15:clr>
        </p15:guide>
        <p15:guide id="19" orient="horz" pos="3277">
          <p15:clr>
            <a:srgbClr val="F26B43"/>
          </p15:clr>
        </p15:guide>
        <p15:guide id="20" orient="horz" pos="3933">
          <p15:clr>
            <a:srgbClr val="F26B43"/>
          </p15:clr>
        </p15:guide>
        <p15:guide id="21" pos="7249">
          <p15:clr>
            <a:srgbClr val="F26B43"/>
          </p15:clr>
        </p15:guide>
        <p15:guide id="22" orient="horz">
          <p15:clr>
            <a:srgbClr val="F26B43"/>
          </p15:clr>
        </p15:guide>
        <p15:guide id="23" pos="7680">
          <p15:clr>
            <a:srgbClr val="F26B43"/>
          </p15:clr>
        </p15:guide>
        <p15:guide id="24" orient="horz" pos="4320">
          <p15:clr>
            <a:srgbClr val="F26B43"/>
          </p15:clr>
        </p15:guide>
        <p15:guide id="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"/>
          <p:cNvSpPr txBox="1"/>
          <p:nvPr/>
        </p:nvSpPr>
        <p:spPr>
          <a:xfrm>
            <a:off x="276447" y="1868383"/>
            <a:ext cx="11606400" cy="45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Noto Sans Symbols"/>
              <a:buNone/>
            </a:pPr>
            <a:r>
              <a:rPr b="1" lang="en-US" sz="4400">
                <a:latin typeface="Calibri"/>
                <a:ea typeface="Calibri"/>
                <a:cs typeface="Calibri"/>
                <a:sym typeface="Calibri"/>
              </a:rPr>
              <a:t>Galactic Speed Project</a:t>
            </a:r>
            <a:endParaRPr/>
          </a:p>
          <a:p>
            <a:pPr indent="-762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Gaetan Jenni and Axel Juaneda</a:t>
            </a:r>
            <a:endParaRPr/>
          </a:p>
        </p:txBody>
      </p:sp>
      <p:sp>
        <p:nvSpPr>
          <p:cNvPr id="153" name="Google Shape;153;p1"/>
          <p:cNvSpPr txBox="1"/>
          <p:nvPr/>
        </p:nvSpPr>
        <p:spPr>
          <a:xfrm>
            <a:off x="292843" y="6321631"/>
            <a:ext cx="11606314" cy="3700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EE-390(a) TP de conception de systems numériques</a:t>
            </a:r>
            <a:endParaRPr b="0" i="0" sz="11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2727260" y="393948"/>
            <a:ext cx="6737480" cy="883395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8416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PRESENTATION MUST BE UPLOADED BEFORE THE PRESENTATION TIME (14:15)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bba934740_0_18"/>
          <p:cNvSpPr txBox="1"/>
          <p:nvPr/>
        </p:nvSpPr>
        <p:spPr>
          <a:xfrm>
            <a:off x="11665649" y="6565820"/>
            <a:ext cx="4887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5bba934740_0_18"/>
          <p:cNvSpPr txBox="1"/>
          <p:nvPr>
            <p:ph type="title"/>
          </p:nvPr>
        </p:nvSpPr>
        <p:spPr>
          <a:xfrm>
            <a:off x="868680" y="4450"/>
            <a:ext cx="112239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The Bailey algorithm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63" name="Google Shape;163;g35bba934740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6150" y="797300"/>
            <a:ext cx="3928653" cy="5884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5bba934740_0_18"/>
          <p:cNvSpPr txBox="1"/>
          <p:nvPr/>
        </p:nvSpPr>
        <p:spPr>
          <a:xfrm>
            <a:off x="1206500" y="1227525"/>
            <a:ext cx="5665800" cy="5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●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Variation of the Cooley–Tukey FFT algorithm originally designed for systems with hierarchical memory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●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Could provide a good starting point for optimizations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○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Lots of parallelization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○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Cache efficiency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○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Row/Col major alternance very efficient in hardware (BRAM)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●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Off-core computation, multiple small FFT that can be loaded in memory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bba934740_1_3"/>
          <p:cNvSpPr txBox="1"/>
          <p:nvPr>
            <p:ph type="title"/>
          </p:nvPr>
        </p:nvSpPr>
        <p:spPr>
          <a:xfrm>
            <a:off x="992191" y="317245"/>
            <a:ext cx="10635900" cy="664500"/>
          </a:xfrm>
          <a:prstGeom prst="rect">
            <a:avLst/>
          </a:prstGeom>
        </p:spPr>
        <p:txBody>
          <a:bodyPr anchorCtr="0" anchor="t" bIns="46800" lIns="180000" spcFirstLastPara="1" rIns="720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Fixed Point</a:t>
            </a:r>
            <a:endParaRPr/>
          </a:p>
        </p:txBody>
      </p:sp>
      <p:sp>
        <p:nvSpPr>
          <p:cNvPr id="171" name="Google Shape;171;g35bba934740_1_3"/>
          <p:cNvSpPr txBox="1"/>
          <p:nvPr>
            <p:ph idx="12" type="sldNum"/>
          </p:nvPr>
        </p:nvSpPr>
        <p:spPr>
          <a:xfrm>
            <a:off x="11628039" y="6453275"/>
            <a:ext cx="564000" cy="2523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g35bba934740_1_3"/>
          <p:cNvSpPr txBox="1"/>
          <p:nvPr/>
        </p:nvSpPr>
        <p:spPr>
          <a:xfrm>
            <a:off x="1061175" y="1388450"/>
            <a:ext cx="10446600" cy="50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Goal</a:t>
            </a: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●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Reduce </a:t>
            </a: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resource</a:t>
            </a: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usage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●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Improve SNR since FXP is computed the same way on the pynq and on the core i9 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How:</a:t>
            </a:r>
            <a:endParaRPr b="1" sz="28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●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Normalized the FFT by nfft to stay in the same range for all configurations and stages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Issue:</a:t>
            </a:r>
            <a:endParaRPr b="1" sz="28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Char char="●"/>
            </a:pPr>
            <a:r>
              <a:rPr lang="en-US" sz="2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We implemented the FXP only in our FFT so we do lots of FXP/FP conversion </a:t>
            </a:r>
            <a:endParaRPr sz="24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"/>
          <p:cNvSpPr txBox="1"/>
          <p:nvPr/>
        </p:nvSpPr>
        <p:spPr>
          <a:xfrm>
            <a:off x="266697" y="1126856"/>
            <a:ext cx="11606400" cy="53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Number of solutions generated: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V2: Bailey software-hardware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Calibri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V3: Bailey software-hardware opti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Calibri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V4: Bailey full software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Calibri"/>
              <a:buChar char="▪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V5: Bailey full hardware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"/>
          <p:cNvSpPr txBox="1"/>
          <p:nvPr/>
        </p:nvSpPr>
        <p:spPr>
          <a:xfrm>
            <a:off x="11665649" y="6565820"/>
            <a:ext cx="488755" cy="185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"/>
          <p:cNvSpPr txBox="1"/>
          <p:nvPr>
            <p:ph type="title"/>
          </p:nvPr>
        </p:nvSpPr>
        <p:spPr>
          <a:xfrm>
            <a:off x="1120605" y="0"/>
            <a:ext cx="112239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Summary of the project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82" name="Google Shape;18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800" y="2340900"/>
            <a:ext cx="7429178" cy="415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/>
          <p:nvPr/>
        </p:nvSpPr>
        <p:spPr>
          <a:xfrm>
            <a:off x="11665649" y="6565820"/>
            <a:ext cx="488755" cy="185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 txBox="1"/>
          <p:nvPr>
            <p:ph type="title"/>
          </p:nvPr>
        </p:nvSpPr>
        <p:spPr>
          <a:xfrm>
            <a:off x="868680" y="4450"/>
            <a:ext cx="11223938" cy="66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Solutions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91" name="Google Shape;19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63" y="669038"/>
            <a:ext cx="11834075" cy="592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bba934740_0_63"/>
          <p:cNvSpPr txBox="1"/>
          <p:nvPr/>
        </p:nvSpPr>
        <p:spPr>
          <a:xfrm>
            <a:off x="11665649" y="6565820"/>
            <a:ext cx="4887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5bba934740_0_63"/>
          <p:cNvSpPr txBox="1"/>
          <p:nvPr>
            <p:ph type="title"/>
          </p:nvPr>
        </p:nvSpPr>
        <p:spPr>
          <a:xfrm>
            <a:off x="868680" y="4450"/>
            <a:ext cx="112239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Summary of the project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00" name="Google Shape;200;g35bba934740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" y="1227225"/>
            <a:ext cx="5771552" cy="319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5bba934740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8250" y="3371025"/>
            <a:ext cx="5901999" cy="312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bba934740_0_9"/>
          <p:cNvSpPr txBox="1"/>
          <p:nvPr/>
        </p:nvSpPr>
        <p:spPr>
          <a:xfrm>
            <a:off x="11665649" y="6565820"/>
            <a:ext cx="4887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5bba934740_0_9"/>
          <p:cNvSpPr txBox="1"/>
          <p:nvPr>
            <p:ph type="title"/>
          </p:nvPr>
        </p:nvSpPr>
        <p:spPr>
          <a:xfrm>
            <a:off x="868680" y="4450"/>
            <a:ext cx="112239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Solution V2: First Bailey software-hardware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0" name="Google Shape;210;g35bba934740_0_9"/>
          <p:cNvSpPr txBox="1"/>
          <p:nvPr/>
        </p:nvSpPr>
        <p:spPr>
          <a:xfrm>
            <a:off x="570350" y="2902252"/>
            <a:ext cx="9904500" cy="3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288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Only the FFT inside hardware -&gt; 2^10 NFFT maximum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Use of caching with ACP port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Twiddles in LUT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Ping pong buffer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Dataflow with 8 workers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Test with kernel -&gt; slower because the switch between user-space and kernel-space is costly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g35bba934740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9250"/>
            <a:ext cx="11887202" cy="14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bba934740_0_26"/>
          <p:cNvSpPr txBox="1"/>
          <p:nvPr/>
        </p:nvSpPr>
        <p:spPr>
          <a:xfrm>
            <a:off x="668325" y="3531552"/>
            <a:ext cx="9904500" cy="3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2 AXI bus to burst real + imag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Software optimizations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5bba934740_0_26"/>
          <p:cNvSpPr txBox="1"/>
          <p:nvPr/>
        </p:nvSpPr>
        <p:spPr>
          <a:xfrm>
            <a:off x="11665649" y="6565820"/>
            <a:ext cx="4887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5bba934740_0_26"/>
          <p:cNvSpPr txBox="1"/>
          <p:nvPr>
            <p:ph type="title"/>
          </p:nvPr>
        </p:nvSpPr>
        <p:spPr>
          <a:xfrm>
            <a:off x="868680" y="4450"/>
            <a:ext cx="112239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8429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Solution V3: Bailey software-hardware optimized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21" name="Google Shape;221;g35bba934740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0015"/>
            <a:ext cx="12192000" cy="1431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bba934740_0_48"/>
          <p:cNvSpPr txBox="1"/>
          <p:nvPr/>
        </p:nvSpPr>
        <p:spPr>
          <a:xfrm>
            <a:off x="11665649" y="6565820"/>
            <a:ext cx="4887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5bba934740_0_48"/>
          <p:cNvSpPr txBox="1"/>
          <p:nvPr>
            <p:ph type="title"/>
          </p:nvPr>
        </p:nvSpPr>
        <p:spPr>
          <a:xfrm>
            <a:off x="868680" y="4450"/>
            <a:ext cx="112239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8429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Solution V3: Bailey software-hardware optimized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30" name="Google Shape;230;g35bba934740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738" y="995450"/>
            <a:ext cx="9988518" cy="557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/>
          <p:nvPr/>
        </p:nvSpPr>
        <p:spPr>
          <a:xfrm>
            <a:off x="276450" y="3068376"/>
            <a:ext cx="11606400" cy="3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Usage of OpenMP to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parallelize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with 2 threads</a:t>
            </a:r>
            <a:endParaRPr/>
          </a:p>
        </p:txBody>
      </p:sp>
      <p:sp>
        <p:nvSpPr>
          <p:cNvPr id="238" name="Google Shape;238;p4"/>
          <p:cNvSpPr txBox="1"/>
          <p:nvPr/>
        </p:nvSpPr>
        <p:spPr>
          <a:xfrm>
            <a:off x="11665649" y="6565820"/>
            <a:ext cx="488755" cy="185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 txBox="1"/>
          <p:nvPr>
            <p:ph type="title"/>
          </p:nvPr>
        </p:nvSpPr>
        <p:spPr>
          <a:xfrm>
            <a:off x="868680" y="4450"/>
            <a:ext cx="11223938" cy="66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Solution V4: Bailey full software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40" name="Google Shape;24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450" y="1341050"/>
            <a:ext cx="11606398" cy="1878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bba934740_0_35"/>
          <p:cNvSpPr txBox="1"/>
          <p:nvPr/>
        </p:nvSpPr>
        <p:spPr>
          <a:xfrm>
            <a:off x="11665649" y="6565820"/>
            <a:ext cx="4887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5bba934740_0_35"/>
          <p:cNvSpPr txBox="1"/>
          <p:nvPr>
            <p:ph type="title"/>
          </p:nvPr>
        </p:nvSpPr>
        <p:spPr>
          <a:xfrm>
            <a:off x="868680" y="4450"/>
            <a:ext cx="11223900" cy="6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Solution V5: Bailey full hardware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9" name="Google Shape;249;g35bba934740_0_35"/>
          <p:cNvSpPr txBox="1"/>
          <p:nvPr/>
        </p:nvSpPr>
        <p:spPr>
          <a:xfrm>
            <a:off x="292800" y="1961252"/>
            <a:ext cx="116064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Use ap_uint to reduce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resource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usage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Highly specific to config 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▪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Did not had time to optimize it (no unrolling, poor burst…)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g35bba934740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3200"/>
            <a:ext cx="11887202" cy="36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/>
          <p:nvPr/>
        </p:nvSpPr>
        <p:spPr>
          <a:xfrm>
            <a:off x="276447" y="1090756"/>
            <a:ext cx="11606314" cy="5373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Major achievements of your project</a:t>
            </a:r>
            <a:endParaRPr/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Dataflow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Bailey FFT implementation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Cache optimization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Good scaling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“High flexibility”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Hurdles encountered during the project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Cache decoherence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Kernel crash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Strategic bottlenecks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52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Final words about the project and the course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Exploring many technical options and being highly creative is exciting, but it also makes it easy to head in the wrong direction.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Incredibly time-consuming but super interesting.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11665649" y="6565820"/>
            <a:ext cx="488755" cy="185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 txBox="1"/>
          <p:nvPr>
            <p:ph type="title"/>
          </p:nvPr>
        </p:nvSpPr>
        <p:spPr>
          <a:xfrm>
            <a:off x="868680" y="4450"/>
            <a:ext cx="11223938" cy="66459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180000" spcFirstLastPara="1" rIns="72000" wrap="square" tIns="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Franklin Gothic"/>
              <a:buNone/>
            </a:pPr>
            <a:r>
              <a:rPr lang="en-US">
                <a:solidFill>
                  <a:srgbClr val="000000"/>
                </a:solidFill>
              </a:rPr>
              <a:t>Conclusions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Custom 18">
      <a:dk1>
        <a:srgbClr val="4B4643"/>
      </a:dk1>
      <a:lt1>
        <a:srgbClr val="FFFFFF"/>
      </a:lt1>
      <a:dk2>
        <a:srgbClr val="413C3A"/>
      </a:dk2>
      <a:lt2>
        <a:srgbClr val="CAC7C7"/>
      </a:lt2>
      <a:accent1>
        <a:srgbClr val="B51F1F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2019-04-02T06:24:35Z</dcterms:created>
  <dc:creator>David Atienza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0x010100EB4751E3EB80DD42B284585D8C0D281F</vt:lpwstr>
  </property>
</Properties>
</file>